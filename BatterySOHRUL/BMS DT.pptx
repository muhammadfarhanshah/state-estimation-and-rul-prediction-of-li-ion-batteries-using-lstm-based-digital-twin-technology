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4" r:id="rId9"/>
    <p:sldId id="260" r:id="rId10"/>
    <p:sldId id="263" r:id="rId11"/>
    <p:sldId id="265" r:id="rId12"/>
    <p:sldId id="266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C80FD-C214-FEF3-5EB9-B5AECEB99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BC138C-0421-8E71-8080-66A8D5081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45AA7-E906-1D94-E4B8-B8D3B61B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B4809-7913-4438-8046-1B4D7B64F516}" type="datetimeFigureOut">
              <a:rPr lang="en-CA" smtClean="0"/>
              <a:t>2026-04-28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EEB32-2EAE-42F4-9800-FE22C4B22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25226-4508-5707-E852-07D1F1C6C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15AE-9A50-4F84-B4E5-FBDA435307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7129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55167-71D0-DB05-EED1-41ACAEE5F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6BD31-937A-652B-F725-C712DA5C4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DC790-2641-7BBF-6620-1BF54A4C7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B4809-7913-4438-8046-1B4D7B64F516}" type="datetimeFigureOut">
              <a:rPr lang="en-CA" smtClean="0"/>
              <a:t>2026-04-28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D3835-0222-6C01-53F7-C041F5C97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A171D-D753-EBBF-9A4F-8669847A5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15AE-9A50-4F84-B4E5-FBDA435307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1290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2FE31-9AD9-A39C-2051-7DA6EDF2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2C9D1-289E-B2F2-C3F1-1607674BF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A9986-F39F-7B1F-2A28-9709E6E70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B4809-7913-4438-8046-1B4D7B64F516}" type="datetimeFigureOut">
              <a:rPr lang="en-CA" smtClean="0"/>
              <a:t>2026-04-28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685BF-9B22-C906-34AA-A24EC8E34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6FF35-E3E9-D15E-E9CC-356B0D1D4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15AE-9A50-4F84-B4E5-FBDA435307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9661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FB4C4-0756-4171-25D1-A03C1EC0A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F0F1D-467A-80BA-A815-7CB042C7DF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51CFA-68CA-CEEB-5333-02560C64E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D02AE-97CC-C07B-A32E-64A1171EE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B4809-7913-4438-8046-1B4D7B64F516}" type="datetimeFigureOut">
              <a:rPr lang="en-CA" smtClean="0"/>
              <a:t>2026-04-28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FECA3-4E14-89ED-48FD-170D8725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EF8A4-B5E8-FEB9-C901-345A8F35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15AE-9A50-4F84-B4E5-FBDA435307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1140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CAC53-3567-BBFF-2B87-752E2078D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D8C9C-D0F6-BA67-AA3F-EA9A1AFA2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2B81B-FD40-9A43-B252-EE59EF91F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7D889B-BCE0-369E-52F5-893F8A508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AACB50-23F8-9126-1BA6-A5140816E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6CFECB-1EEE-4FD0-1428-268DABB4F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B4809-7913-4438-8046-1B4D7B64F516}" type="datetimeFigureOut">
              <a:rPr lang="en-CA" smtClean="0"/>
              <a:t>2026-04-28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61F085-FA89-CF71-C80A-3D59D4C0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A91F19-8C94-48BE-15A3-607F9884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15AE-9A50-4F84-B4E5-FBDA435307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391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24691-4F1C-A077-CFC8-A14F5AC03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F7CD41-8BCD-30C3-CD43-2A4220CCF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B4809-7913-4438-8046-1B4D7B64F516}" type="datetimeFigureOut">
              <a:rPr lang="en-CA" smtClean="0"/>
              <a:t>2026-04-28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9989D-E032-39A3-E7D8-1CB64DCDE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27D22-4878-D438-E389-3EAD8923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15AE-9A50-4F84-B4E5-FBDA435307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3058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05BF85-9054-DE54-9F71-FDA313DDA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B4809-7913-4438-8046-1B4D7B64F516}" type="datetimeFigureOut">
              <a:rPr lang="en-CA" smtClean="0"/>
              <a:t>2026-04-28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D7B848-B31F-931C-CD61-D651E7895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F42D2-0918-1BB7-745A-28D8825A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15AE-9A50-4F84-B4E5-FBDA435307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8171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BA72F-2F0F-8662-4BD1-C3D55ED5C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CC582-8361-F034-3C98-29D647D64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B2E53-E8C2-2710-CE9B-C3CCC98E9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88F52-A896-B6DE-4A91-BE360FD5B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B4809-7913-4438-8046-1B4D7B64F516}" type="datetimeFigureOut">
              <a:rPr lang="en-CA" smtClean="0"/>
              <a:t>2026-04-28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F98C9-E488-BAB0-F849-A64218662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70A29-84B2-D138-605F-5D2982515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15AE-9A50-4F84-B4E5-FBDA435307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7368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CF5D0-38D9-F9F6-0B58-A18874C83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E13125-D155-2413-7CC8-B9B7F6372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1D73E-3455-8E08-996D-45DA94261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1BA1C-C3F7-2D78-9C0B-5AE349BF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B4809-7913-4438-8046-1B4D7B64F516}" type="datetimeFigureOut">
              <a:rPr lang="en-CA" smtClean="0"/>
              <a:t>2026-04-28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1C97F-EA49-8364-E02B-0015AE422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93ABA-7869-E90B-FC9F-8AE712128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15AE-9A50-4F84-B4E5-FBDA435307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849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92455-9245-566C-033D-0FFEF85F7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A6467-C8F3-4AE4-33A4-C9715D8D4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9F438-F4CA-0E4C-0E82-467E26128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B4809-7913-4438-8046-1B4D7B64F516}" type="datetimeFigureOut">
              <a:rPr lang="en-CA" smtClean="0"/>
              <a:t>2026-04-28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27D8A-FB74-B04B-0D25-774C706CD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00C83-80F7-CAE9-A959-90A9D7F30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15AE-9A50-4F84-B4E5-FBDA435307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755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61A71-2204-BF5A-DC7C-CC4D07A82C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3F8D7-87C4-4AF8-781C-AB1A4FF9A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3FB20-35DE-F83F-37DD-D0A72509A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B4809-7913-4438-8046-1B4D7B64F516}" type="datetimeFigureOut">
              <a:rPr lang="en-CA" smtClean="0"/>
              <a:t>2026-04-28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C5AA7-C9E8-44D1-1E24-AC48CCDAA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DDF94-C153-9AEF-0560-3BE3A9724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15AE-9A50-4F84-B4E5-FBDA435307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261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CB5A0B-90E4-2380-79C7-224B36F5E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82F3C-3D5A-ECC1-2E7E-FE6423D69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C8D50-C870-6088-3B83-B7BE02082D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B4809-7913-4438-8046-1B4D7B64F516}" type="datetimeFigureOut">
              <a:rPr lang="en-CA" smtClean="0"/>
              <a:t>2026-04-28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9C9FC-CDB1-74F1-3014-7504047ADB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3D7FB-DE9E-4762-CAA3-7846C6036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5015AE-9A50-4F84-B4E5-FBDA435307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7463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10" descr="Part 6">
            <a:extLst>
              <a:ext uri="{FF2B5EF4-FFF2-40B4-BE49-F238E27FC236}">
                <a16:creationId xmlns:a16="http://schemas.microsoft.com/office/drawing/2014/main" id="{AE3EDE4E-9ED8-FFB2-FC70-EF6CCFD26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4" t="9091" r="27809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08A903-69F3-1E45-7E41-C44BD2001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309" y="1228787"/>
            <a:ext cx="4023360" cy="1602548"/>
          </a:xfrm>
        </p:spPr>
        <p:txBody>
          <a:bodyPr anchor="b">
            <a:noAutofit/>
          </a:bodyPr>
          <a:lstStyle/>
          <a:p>
            <a:pPr algn="l"/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Estimation &amp; Energy Management Control of Li-Ion BMS using Digital Twin Technology</a:t>
            </a:r>
            <a:endParaRPr lang="en-CA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FB6D42-0D61-C2F0-0DDC-6A47686D8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309" y="4968453"/>
            <a:ext cx="2757753" cy="1621347"/>
          </a:xfrm>
        </p:spPr>
        <p:txBody>
          <a:bodyPr>
            <a:normAutofit/>
          </a:bodyPr>
          <a:lstStyle/>
          <a:p>
            <a:pPr algn="l"/>
            <a:r>
              <a:rPr lang="en-GB" sz="900" dirty="0">
                <a:solidFill>
                  <a:schemeClr val="bg1"/>
                </a:solidFill>
              </a:rPr>
              <a:t>Group Members:</a:t>
            </a:r>
          </a:p>
          <a:p>
            <a:pPr algn="l"/>
            <a:r>
              <a:rPr lang="en-GB" sz="900" dirty="0">
                <a:solidFill>
                  <a:schemeClr val="bg1"/>
                </a:solidFill>
              </a:rPr>
              <a:t>Muhammad Farhan Shah (458298)</a:t>
            </a:r>
          </a:p>
          <a:p>
            <a:pPr algn="l"/>
            <a:r>
              <a:rPr lang="en-GB" sz="900" dirty="0">
                <a:solidFill>
                  <a:schemeClr val="bg1"/>
                </a:solidFill>
              </a:rPr>
              <a:t>Kumail Ahmed (459196)</a:t>
            </a:r>
          </a:p>
          <a:p>
            <a:pPr algn="l"/>
            <a:r>
              <a:rPr lang="en-CA" sz="900" dirty="0">
                <a:solidFill>
                  <a:schemeClr val="bg1"/>
                </a:solidFill>
              </a:rPr>
              <a:t>Muhammad Bilal (468188)</a:t>
            </a:r>
          </a:p>
          <a:p>
            <a:pPr algn="l"/>
            <a:r>
              <a:rPr lang="en-CA" sz="900" dirty="0">
                <a:solidFill>
                  <a:schemeClr val="bg1"/>
                </a:solidFill>
              </a:rPr>
              <a:t>Hassan Attique (482073)</a:t>
            </a:r>
          </a:p>
          <a:p>
            <a:pPr algn="l"/>
            <a:r>
              <a:rPr lang="en-CA" sz="900" dirty="0">
                <a:solidFill>
                  <a:schemeClr val="bg1"/>
                </a:solidFill>
              </a:rPr>
              <a:t>BEE15D Group 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016B101-EC9D-C83F-9B95-F882208D5E5B}"/>
              </a:ext>
            </a:extLst>
          </p:cNvPr>
          <p:cNvSpPr txBox="1"/>
          <p:nvPr/>
        </p:nvSpPr>
        <p:spPr>
          <a:xfrm>
            <a:off x="435310" y="3361285"/>
            <a:ext cx="40233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Solving the inaccuracy of traditional battery state estimation by merging LSTM models to predict battery state and control/supervise healthy battery operation </a:t>
            </a:r>
            <a:endParaRPr lang="en-CA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11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9A608-6085-598E-465E-261957B7D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CA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01129DC-E6A3-712F-18EC-C27EED236E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91"/>
          <a:stretch>
            <a:fillRect/>
          </a:stretch>
        </p:blipFill>
        <p:spPr bwMode="auto">
          <a:xfrm>
            <a:off x="535940" y="2491571"/>
            <a:ext cx="3429000" cy="3651706"/>
          </a:xfrm>
          <a:prstGeom prst="rect">
            <a:avLst/>
          </a:prstGeom>
          <a:ln>
            <a:noFill/>
          </a:ln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limpse into the future - Porsche Newsroom">
            <a:extLst>
              <a:ext uri="{FF2B5EF4-FFF2-40B4-BE49-F238E27FC236}">
                <a16:creationId xmlns:a16="http://schemas.microsoft.com/office/drawing/2014/main" id="{FCF7B8EE-23A9-C0FE-CC50-1C1C250C5B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68"/>
          <a:stretch>
            <a:fillRect/>
          </a:stretch>
        </p:blipFill>
        <p:spPr bwMode="auto">
          <a:xfrm>
            <a:off x="8483600" y="2491571"/>
            <a:ext cx="3322320" cy="3651706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8990CF-1DC8-2687-AF9E-77555BD711DA}"/>
              </a:ext>
            </a:extLst>
          </p:cNvPr>
          <p:cNvSpPr txBox="1"/>
          <p:nvPr/>
        </p:nvSpPr>
        <p:spPr>
          <a:xfrm>
            <a:off x="8935720" y="1629464"/>
            <a:ext cx="241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Twin</a:t>
            </a:r>
            <a:endParaRPr lang="en-CA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7BB9C-AE2B-F21D-B4AB-5435CD9D6959}"/>
              </a:ext>
            </a:extLst>
          </p:cNvPr>
          <p:cNvSpPr txBox="1"/>
          <p:nvPr/>
        </p:nvSpPr>
        <p:spPr>
          <a:xfrm>
            <a:off x="731520" y="1734028"/>
            <a:ext cx="2875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Battery Management System</a:t>
            </a:r>
            <a:endParaRPr lang="en-CA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4296C9-8EB7-DDA7-799D-A387662F984B}"/>
              </a:ext>
            </a:extLst>
          </p:cNvPr>
          <p:cNvSpPr txBox="1"/>
          <p:nvPr/>
        </p:nvSpPr>
        <p:spPr>
          <a:xfrm>
            <a:off x="3708401" y="2179256"/>
            <a:ext cx="287528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Protects Against</a:t>
            </a:r>
          </a:p>
          <a:p>
            <a:endParaRPr lang="en-GB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Overvoltage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Undervoltage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Overcurrent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Thermal Runaway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 Circuit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 Polarity</a:t>
            </a:r>
          </a:p>
          <a:p>
            <a:endParaRPr lang="en-GB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</a:t>
            </a:r>
          </a:p>
          <a:p>
            <a:endParaRPr lang="en-GB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 Balancing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 Control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Discharge Control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 Estimation</a:t>
            </a:r>
          </a:p>
          <a:p>
            <a:endParaRPr lang="en-GB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CA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14E33E-AC01-8EE6-BDEF-563C41179FC0}"/>
              </a:ext>
            </a:extLst>
          </p:cNvPr>
          <p:cNvSpPr txBox="1"/>
          <p:nvPr/>
        </p:nvSpPr>
        <p:spPr>
          <a:xfrm>
            <a:off x="5864859" y="2149526"/>
            <a:ext cx="28752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</a:p>
          <a:p>
            <a:pPr algn="ctr"/>
            <a:endParaRPr lang="en-GB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Time Monitoring  -</a:t>
            </a:r>
          </a:p>
          <a:p>
            <a:pPr algn="r"/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 -</a:t>
            </a:r>
          </a:p>
          <a:p>
            <a:pPr algn="r"/>
            <a:r>
              <a:rPr lang="en-GB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Driven Decision Making -</a:t>
            </a:r>
            <a:endParaRPr lang="en-CA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CA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Optimization -</a:t>
            </a:r>
          </a:p>
          <a:p>
            <a:pPr algn="r"/>
            <a:r>
              <a:rPr lang="en-CA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Lifecycle Management - </a:t>
            </a:r>
          </a:p>
          <a:p>
            <a:pPr algn="r"/>
            <a:endParaRPr lang="en-CA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CA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CA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83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14" grpId="0"/>
      <p:bldP spid="17" grpId="0" build="allAtOnce"/>
      <p:bldP spid="18" grpId="0" uiExpand="1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2FCCB-6944-88EF-0C15-9D1FA0A16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9C484-2717-CF84-A9B7-CF0269C31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Modelling</a:t>
            </a:r>
            <a:endParaRPr lang="en-CA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FDDADE1-3115-A776-1B88-73E9A69DA0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91"/>
          <a:stretch>
            <a:fillRect/>
          </a:stretch>
        </p:blipFill>
        <p:spPr bwMode="auto">
          <a:xfrm>
            <a:off x="535940" y="2491571"/>
            <a:ext cx="3429000" cy="3651706"/>
          </a:xfrm>
          <a:prstGeom prst="rect">
            <a:avLst/>
          </a:prstGeom>
          <a:ln>
            <a:noFill/>
          </a:ln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limpse into the future - Porsche Newsroom">
            <a:extLst>
              <a:ext uri="{FF2B5EF4-FFF2-40B4-BE49-F238E27FC236}">
                <a16:creationId xmlns:a16="http://schemas.microsoft.com/office/drawing/2014/main" id="{B84F31E7-8470-4A06-53B9-3E7025815E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68"/>
          <a:stretch>
            <a:fillRect/>
          </a:stretch>
        </p:blipFill>
        <p:spPr bwMode="auto">
          <a:xfrm>
            <a:off x="8483600" y="2491571"/>
            <a:ext cx="3322320" cy="3651706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FA180E-D35A-7449-2489-1F38073C6D3C}"/>
              </a:ext>
            </a:extLst>
          </p:cNvPr>
          <p:cNvSpPr txBox="1"/>
          <p:nvPr/>
        </p:nvSpPr>
        <p:spPr>
          <a:xfrm>
            <a:off x="8935720" y="1629464"/>
            <a:ext cx="241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Digital Twin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01282-3D53-1574-EAA2-812D4984E50F}"/>
              </a:ext>
            </a:extLst>
          </p:cNvPr>
          <p:cNvSpPr txBox="1"/>
          <p:nvPr/>
        </p:nvSpPr>
        <p:spPr>
          <a:xfrm>
            <a:off x="731520" y="1734028"/>
            <a:ext cx="2875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Battery Management System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CB434E-E27A-A32E-8708-8D5559F5DF03}"/>
              </a:ext>
            </a:extLst>
          </p:cNvPr>
          <p:cNvSpPr txBox="1"/>
          <p:nvPr/>
        </p:nvSpPr>
        <p:spPr>
          <a:xfrm>
            <a:off x="3708401" y="2179256"/>
            <a:ext cx="287528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Functionalities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Protects Against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Overvoltage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Undervoltage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Overcurrent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Thermal Runaway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Short Circuit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Reverse Polarity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Performs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Cell Balancing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Charge Control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Discharge Control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SOC Estimation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FE62B3-9CA7-A21D-6C08-2276CFEA6CA4}"/>
              </a:ext>
            </a:extLst>
          </p:cNvPr>
          <p:cNvSpPr txBox="1"/>
          <p:nvPr/>
        </p:nvSpPr>
        <p:spPr>
          <a:xfrm>
            <a:off x="5864859" y="2149526"/>
            <a:ext cx="28752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Functionalities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Performs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Real Time Monitoring  -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Predictive Maintenance -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 Driven Decision Making -</a:t>
            </a:r>
            <a:endParaRPr kumimoji="0" lang="en-C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Performance Optimization -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Lifecycle Management -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074" name="Picture 2" descr="Battery Equivalent Circuit - Battery model with electro-thermal dynamics  and optional faults - MATLAB">
            <a:extLst>
              <a:ext uri="{FF2B5EF4-FFF2-40B4-BE49-F238E27FC236}">
                <a16:creationId xmlns:a16="http://schemas.microsoft.com/office/drawing/2014/main" id="{76E1056B-F0E4-03C8-3536-C7B84BDDC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335" y="1734028"/>
            <a:ext cx="7972425" cy="31527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967208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4.07407E-6 L 0.32878 -0.00857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32" y="-44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1.85185E-6 L 0.33372 -0.01597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80" y="-81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1.85185E-6 L -0.31198 -0.0085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599" y="-44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4.81481E-6 L -0.33203 0.00602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02" y="301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2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2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6" presetClass="entr" presetSubtype="3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1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4" grpId="1"/>
      <p:bldP spid="17" grpId="0"/>
      <p:bldP spid="18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3290C4-8184-A5F7-1086-EA6D684B7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9A4B5-E3A2-4E9C-BDE5-9F1E8D3F3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Modelling</a:t>
            </a:r>
            <a:endParaRPr lang="en-CA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61D8B1-9360-85CD-E895-045650B4D27B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38200" y="5090795"/>
                <a:ext cx="1091692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GB" baseline="300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rd</a:t>
                </a:r>
                <a:r>
                  <a:rPr lang="en-GB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Order Equivalent Circuit Model of a Lithium Ion Battery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CA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Internal Resistance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CA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(Fast Dynamics) 	Process: Charge Transfer &amp; Double-Layer Capacitance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A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(Medium Dynamics) 	Process: Ion Diffusion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en-GB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CA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GB" b="0" i="0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Slow</m:t>
                    </m:r>
                    <m:r>
                      <m:rPr>
                        <m:nor/>
                      </m:rPr>
                      <a:rPr lang="en-GB" b="0" i="0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CA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Dynamics</m:t>
                    </m:r>
                    <m:r>
                      <m:rPr>
                        <m:nor/>
                      </m:rPr>
                      <a:rPr lang="en-CA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GB" b="0" i="0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Process: Electrolyte Diffusion &amp; Concentration Polarization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61D8B1-9360-85CD-E895-045650B4D27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090795"/>
                <a:ext cx="10916920" cy="1477328"/>
              </a:xfrm>
              <a:prstGeom prst="rect">
                <a:avLst/>
              </a:prstGeom>
              <a:blipFill>
                <a:blip r:embed="rId2"/>
                <a:stretch>
                  <a:fillRect l="-503" t="-2066" b="-578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>
            <a:extLst>
              <a:ext uri="{FF2B5EF4-FFF2-40B4-BE49-F238E27FC236}">
                <a16:creationId xmlns:a16="http://schemas.microsoft.com/office/drawing/2014/main" id="{75DFE483-B6F1-A3D8-82A5-7F7A45EDF0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335" y="1734028"/>
            <a:ext cx="7972425" cy="31527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873EC1-4F36-33ED-1AC5-C561549CA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819" y="1537384"/>
            <a:ext cx="9764488" cy="243874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B1E175-A179-6AB8-2D2F-A996273B1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2778" y="3948825"/>
            <a:ext cx="7611537" cy="1371791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D06A63-57F4-048C-0F4C-70E801E901D5}"/>
              </a:ext>
            </a:extLst>
          </p:cNvPr>
          <p:cNvSpPr txBox="1"/>
          <p:nvPr/>
        </p:nvSpPr>
        <p:spPr>
          <a:xfrm>
            <a:off x="2568432" y="5771461"/>
            <a:ext cx="7055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Space Representation of the Plant (Li-ion Battery)</a:t>
            </a:r>
            <a:endParaRPr lang="en-CA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7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1.11111E-6 L -0.23919 -0.20857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966" y="-1044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1.85185E-6 L 0.22565 -0.11458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76" y="-5741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4.44444E-6 L 0.23047 -0.17569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23" y="-8796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2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4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8" grpId="1" build="allAtOnce"/>
      <p:bldP spid="11" grpId="0"/>
      <p:bldP spid="1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960AAC-677E-4CFE-6F0B-61F015D2E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B284A-2733-55F7-2CB1-C66C91878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Controller Design - </a:t>
            </a:r>
            <a:r>
              <a:rPr lang="en-GB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CA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Ai brain 4k Images - Free Download on Freepik">
            <a:extLst>
              <a:ext uri="{FF2B5EF4-FFF2-40B4-BE49-F238E27FC236}">
                <a16:creationId xmlns:a16="http://schemas.microsoft.com/office/drawing/2014/main" id="{6CB966C1-E657-5794-B1E3-97FDE0E96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40730"/>
            <a:ext cx="6880434" cy="4816303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FCCA8F-8D1C-7D7F-ED64-C76387535308}"/>
              </a:ext>
            </a:extLst>
          </p:cNvPr>
          <p:cNvSpPr txBox="1"/>
          <p:nvPr/>
        </p:nvSpPr>
        <p:spPr>
          <a:xfrm>
            <a:off x="529186" y="1719724"/>
            <a:ext cx="1107290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Multiple LSTM Based Supervisory Controller to control C-rate of Li-ion Batteries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GB" sz="2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BMS Circuit with basic logic to protect against: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Overvoltage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Undervoltage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Overcurrent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Thermal Runaway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- Short Circuits 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785E1-0E52-9739-5114-1DA6DB11C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87" y="365125"/>
            <a:ext cx="9191626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744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5612F-5A36-AAEF-9271-054DDDEF9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E77EA-664A-E61C-0E46-486B6C578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486"/>
            <a:ext cx="10515600" cy="825011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CA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D6E0D6-B4C6-8A27-CA13-87D96FC8E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432"/>
          <a:stretch>
            <a:fillRect/>
          </a:stretch>
        </p:blipFill>
        <p:spPr>
          <a:xfrm>
            <a:off x="2172119" y="934497"/>
            <a:ext cx="8187731" cy="5596448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8797DB-F92E-5A0F-E67F-E30677178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57" b="2859"/>
          <a:stretch>
            <a:fillRect/>
          </a:stretch>
        </p:blipFill>
        <p:spPr>
          <a:xfrm>
            <a:off x="2172119" y="720184"/>
            <a:ext cx="8187731" cy="6028330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798287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EA992-14F3-8755-FF69-9ADFEA4F7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A5B4E1-6FCE-5F66-67E8-432A52D8A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7106" y="256381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GB" sz="40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CA" sz="4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8A0BC0-3AFC-C091-892A-DA65AF184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237" y="1568616"/>
            <a:ext cx="7127526" cy="4684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671F93-5986-90BD-E669-C252509A5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117" y="1405978"/>
            <a:ext cx="9659763" cy="4847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8B81BF-15AB-2C3D-BEA2-7FB775A750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0769"/>
          <a:stretch>
            <a:fillRect/>
          </a:stretch>
        </p:blipFill>
        <p:spPr>
          <a:xfrm>
            <a:off x="2020205" y="1405978"/>
            <a:ext cx="8627131" cy="50518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3CC542-DAD4-5386-7344-1DD5FD9669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15" r="22181"/>
          <a:stretch>
            <a:fillRect/>
          </a:stretch>
        </p:blipFill>
        <p:spPr>
          <a:xfrm>
            <a:off x="1912050" y="1405977"/>
            <a:ext cx="9487637" cy="496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08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930432-D68B-EC96-D1F8-DA9D74504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2C3-44AF-AE0A-8FB3-27CB85892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7106" y="256381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GB" sz="40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&amp; Discussion</a:t>
            </a:r>
            <a:endParaRPr lang="en-CA" sz="4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Light Bulb Photos, Download The BEST Free Light Bulb Stock Photos &amp; HD  Images">
            <a:extLst>
              <a:ext uri="{FF2B5EF4-FFF2-40B4-BE49-F238E27FC236}">
                <a16:creationId xmlns:a16="http://schemas.microsoft.com/office/drawing/2014/main" id="{B34DF9A5-DAAF-5ED4-45DB-8FD3D9387E4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933" y="1728044"/>
            <a:ext cx="4873575" cy="487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2E5B42-D141-075D-63D8-FA6CC8F5B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85467"/>
              </p:ext>
            </p:extLst>
          </p:nvPr>
        </p:nvGraphicFramePr>
        <p:xfrm>
          <a:off x="539793" y="1271210"/>
          <a:ext cx="6690140" cy="5162251"/>
        </p:xfrm>
        <a:graphic>
          <a:graphicData uri="http://schemas.openxmlformats.org/drawingml/2006/table">
            <a:tbl>
              <a:tblPr/>
              <a:tblGrid>
                <a:gridCol w="1672535">
                  <a:extLst>
                    <a:ext uri="{9D8B030D-6E8A-4147-A177-3AD203B41FA5}">
                      <a16:colId xmlns:a16="http://schemas.microsoft.com/office/drawing/2014/main" val="929458179"/>
                    </a:ext>
                  </a:extLst>
                </a:gridCol>
                <a:gridCol w="1672535">
                  <a:extLst>
                    <a:ext uri="{9D8B030D-6E8A-4147-A177-3AD203B41FA5}">
                      <a16:colId xmlns:a16="http://schemas.microsoft.com/office/drawing/2014/main" val="2639835408"/>
                    </a:ext>
                  </a:extLst>
                </a:gridCol>
                <a:gridCol w="1672535">
                  <a:extLst>
                    <a:ext uri="{9D8B030D-6E8A-4147-A177-3AD203B41FA5}">
                      <a16:colId xmlns:a16="http://schemas.microsoft.com/office/drawing/2014/main" val="1283992528"/>
                    </a:ext>
                  </a:extLst>
                </a:gridCol>
                <a:gridCol w="1672535">
                  <a:extLst>
                    <a:ext uri="{9D8B030D-6E8A-4147-A177-3AD203B41FA5}">
                      <a16:colId xmlns:a16="http://schemas.microsoft.com/office/drawing/2014/main" val="3374102162"/>
                    </a:ext>
                  </a:extLst>
                </a:gridCol>
              </a:tblGrid>
              <a:tr h="41993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Strategy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Parameters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 taken by System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Physical/Chemical Benefit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554526"/>
                  </a:ext>
                </a:extLst>
              </a:tr>
              <a:tr h="81351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C-Rate Derating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Predicted </a:t>
                      </a:r>
                      <a:r>
                        <a:rPr lang="en-CA" sz="1050" b="0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SoH</a:t>
                      </a:r>
                      <a:endParaRPr lang="en-CA" sz="1050" b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05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Max Allowable Current (Throttling)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Minimizes mechanical strain on electrode lattice; prevents lithium plating.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332679"/>
                  </a:ext>
                </a:extLst>
              </a:tr>
              <a:tr h="81351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Thermal Power Throttling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 (T), SoC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050" b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PWM duty cycle (current load)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05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Prevents electrolyte decomposition.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976985"/>
                  </a:ext>
                </a:extLst>
              </a:tr>
              <a:tr h="81351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End-of-Life (EOL) Prediction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Predicted RUL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050" b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Triggers "Service Required" or "Safe Mode"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05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Prevents catastrophic failure or sudden power loss in critical applications.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83499"/>
                  </a:ext>
                </a:extLst>
              </a:tr>
              <a:tr h="81351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 Resistance Compensation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V, I (Ohm's Law)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Adjusts voltage cut-off limits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05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Accounts for increased R0 as battery ages to prevent premature shutdown.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347367"/>
                  </a:ext>
                </a:extLst>
              </a:tr>
              <a:tr h="81351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Energy Reserve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SoC, SoH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05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Dynamically adjusts the "0% SoC" floor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05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Protects the battery from deep discharge, which causes irreversible capacity loss.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711313"/>
                  </a:ext>
                </a:extLst>
              </a:tr>
              <a:tr h="67471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Stress Factor Mitigation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CA" sz="105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V, I, T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05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Limits high-power bursts during low SoC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050" b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the risk of internal short-circuits caused by dendrite growth.</a:t>
                      </a:r>
                    </a:p>
                  </a:txBody>
                  <a:tcPr marL="34443" marR="34443" marT="45924" marB="45924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432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069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7FFBD-CF7A-D928-3C3D-5595748E1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A152D-9256-87FE-8480-2B2AA7E6D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7106" y="256381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GB" sz="40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CA" sz="4000"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Light Bulb Photos, Download The BEST Free Light Bulb Stock Photos &amp; HD  Images">
            <a:extLst>
              <a:ext uri="{FF2B5EF4-FFF2-40B4-BE49-F238E27FC236}">
                <a16:creationId xmlns:a16="http://schemas.microsoft.com/office/drawing/2014/main" id="{CDBF604C-10D4-5398-C50A-D579481A36E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933" y="1728044"/>
            <a:ext cx="4873575" cy="487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E35B7CF-A0D4-027C-A055-9046AA38E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570" y="1248732"/>
            <a:ext cx="6203615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Control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Replaced reactive monitoring with LSTM forecasting to manage degradation before reaching critical thresholds.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Twin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Integrated Arduino telemetry with cascaded neural networks to precisely estimate hidden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RUL states.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Closed-Loop Optimization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Autonomous hardware control, like C-rate throttling, extends battery life and improves operational safety.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1058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380AA5C-A232-78DE-DF89-21979C16B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587859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Research Areas</a:t>
            </a:r>
            <a:endParaRPr lang="en-CA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81A396C-A144-F1ED-685B-5D1B8441B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1469" y="587859"/>
            <a:ext cx="5183188" cy="823912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References</a:t>
            </a:r>
            <a:endParaRPr kumimoji="0" lang="en-CA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94EF9265-8437-CC7A-187E-30EBDBD97BD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 t="-1" r="19414" b="-3330"/>
          <a:stretch>
            <a:fillRect/>
          </a:stretch>
        </p:blipFill>
        <p:spPr>
          <a:xfrm>
            <a:off x="7007273" y="1778246"/>
            <a:ext cx="4162171" cy="3807234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EAFF204C-6008-3011-2A62-BF256514A64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39535" y="1778246"/>
            <a:ext cx="3358292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 Vehicles (EVs)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 Energy Storage Systems (BESS)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Consumer Electronics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 Aviation (eVTOL)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Second-Life Battery Grading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Marine Electrification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Heavy Industrial Equipment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Space Exploration Systems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Unmanned Aerial Vehicles (Drones)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 Device Power Management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4AD489-1966-8E02-8627-43CFE419D7DC}"/>
              </a:ext>
            </a:extLst>
          </p:cNvPr>
          <p:cNvSpPr txBox="1"/>
          <p:nvPr/>
        </p:nvSpPr>
        <p:spPr>
          <a:xfrm>
            <a:off x="6040358" y="566338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Research Paper – </a:t>
            </a:r>
          </a:p>
          <a:p>
            <a:pPr algn="ctr">
              <a:buNone/>
            </a:pPr>
            <a:r>
              <a:rPr lang="en-GB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Leveraging Digital Twin Technology for Battery 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GB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Management: A Case Study Review</a:t>
            </a:r>
            <a:endParaRPr lang="en-CA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876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allAtOnce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DD7B2C82637344B0A51857162DC4ED" ma:contentTypeVersion="4" ma:contentTypeDescription="Create a new document." ma:contentTypeScope="" ma:versionID="f8af0af4ad6e94718bab443a149446e8">
  <xsd:schema xmlns:xsd="http://www.w3.org/2001/XMLSchema" xmlns:xs="http://www.w3.org/2001/XMLSchema" xmlns:p="http://schemas.microsoft.com/office/2006/metadata/properties" xmlns:ns3="9d7d4e03-e9a2-4d85-8a1c-5e853e5666c7" targetNamespace="http://schemas.microsoft.com/office/2006/metadata/properties" ma:root="true" ma:fieldsID="372fb64478c72ee7a7f2c795a986c54c" ns3:_="">
    <xsd:import namespace="9d7d4e03-e9a2-4d85-8a1c-5e853e5666c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7d4e03-e9a2-4d85-8a1c-5e853e5666c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023BAA8-067A-4CED-A393-CD91290CFEE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3F9880-2228-4BE7-AF6C-09F691842E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7d4e03-e9a2-4d85-8a1c-5e853e5666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3A56255-4C7D-4761-9A04-367D172742C1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9d7d4e03-e9a2-4d85-8a1c-5e853e5666c7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552</Words>
  <Application>Microsoft Office PowerPoint</Application>
  <PresentationFormat>Widescreen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 Math</vt:lpstr>
      <vt:lpstr>Times New Roman</vt:lpstr>
      <vt:lpstr>Wingdings</vt:lpstr>
      <vt:lpstr>Office Theme</vt:lpstr>
      <vt:lpstr>State Estimation &amp; Energy Management Control of Li-Ion BMS using Digital Twin Technology</vt:lpstr>
      <vt:lpstr>Introduction</vt:lpstr>
      <vt:lpstr>Mathematical Modelling</vt:lpstr>
      <vt:lpstr>Mathematical Modelling</vt:lpstr>
      <vt:lpstr>Proposed Controller Design - WorkFlow</vt:lpstr>
      <vt:lpstr>WorkFlow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Farhan Shah</dc:creator>
  <cp:lastModifiedBy>Muhammad Farhan Shah</cp:lastModifiedBy>
  <cp:revision>37</cp:revision>
  <dcterms:created xsi:type="dcterms:W3CDTF">2026-04-25T22:06:31Z</dcterms:created>
  <dcterms:modified xsi:type="dcterms:W3CDTF">2026-04-27T21:55:11Z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0x010100BFDD7B2C82637344B0A51857162DC4ED</vt:lpwstr>
  </property>
</Properties>
</file>